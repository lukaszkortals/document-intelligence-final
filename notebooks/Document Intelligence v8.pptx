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Libre Franklin"/>
      <p:regular r:id="rId23"/>
      <p:bold r:id="rId24"/>
      <p:italic r:id="rId25"/>
      <p:boldItalic r:id="rId26"/>
    </p:embeddedFont>
    <p:embeddedFont>
      <p:font typeface="Century Schoolbook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Sj0pNsFyh757eqiVN1GBpu0pr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A5FE66-BA1A-4DD0-BCAB-B60FE328F773}">
  <a:tblStyle styleId="{3CA5FE66-BA1A-4DD0-BCAB-B60FE328F77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ibreFranklin-bold.fntdata"/><Relationship Id="rId23" Type="http://schemas.openxmlformats.org/officeDocument/2006/relationships/font" Target="fonts/LibreFranklin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Franklin-boldItalic.fntdata"/><Relationship Id="rId25" Type="http://schemas.openxmlformats.org/officeDocument/2006/relationships/font" Target="fonts/LibreFranklin-italic.fntdata"/><Relationship Id="rId28" Type="http://schemas.openxmlformats.org/officeDocument/2006/relationships/font" Target="fonts/CenturySchoolbook-bold.fntdata"/><Relationship Id="rId27" Type="http://schemas.openxmlformats.org/officeDocument/2006/relationships/font" Target="fonts/CenturySchoolboo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Schoolbook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CenturySchoolbook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1be3e8b6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d1be3e8b6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1bf16c9d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d1bf16c9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6B8B7A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" name="Google Shape;16;p25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5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5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5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0" name="Google Shape;20;p25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25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25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25"/>
          <p:cNvSpPr txBox="1"/>
          <p:nvPr>
            <p:ph type="ctrTitle"/>
          </p:nvPr>
        </p:nvSpPr>
        <p:spPr>
          <a:xfrm>
            <a:off x="1629103" y="2244830"/>
            <a:ext cx="8933796" cy="243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Century Schoolbook"/>
              <a:buNone/>
              <a:defRPr b="0" sz="6800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" type="subTitle"/>
          </p:nvPr>
        </p:nvSpPr>
        <p:spPr>
          <a:xfrm>
            <a:off x="1629101" y="4682062"/>
            <a:ext cx="8936846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25"/>
          <p:cNvSpPr txBox="1"/>
          <p:nvPr>
            <p:ph idx="10" type="dt"/>
          </p:nvPr>
        </p:nvSpPr>
        <p:spPr>
          <a:xfrm>
            <a:off x="5318760" y="1341256"/>
            <a:ext cx="1554480" cy="485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1" type="ftr"/>
          </p:nvPr>
        </p:nvSpPr>
        <p:spPr>
          <a:xfrm>
            <a:off x="1629100" y="5177408"/>
            <a:ext cx="5730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606920" y="5177408"/>
            <a:ext cx="19559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rgbClr val="6B8B7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" name="Google Shape;36;p27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7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7"/>
          <p:cNvSpPr txBox="1"/>
          <p:nvPr>
            <p:ph type="title"/>
          </p:nvPr>
        </p:nvSpPr>
        <p:spPr>
          <a:xfrm>
            <a:off x="1629156" y="2275165"/>
            <a:ext cx="8933688" cy="2406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Century Schoolbook"/>
              <a:buNone/>
              <a:defRPr sz="6800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" name="Google Shape;40;p27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41" name="Google Shape;41;p27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" name="Google Shape;42;p27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27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1629156" y="4682062"/>
            <a:ext cx="8939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7"/>
          <p:cNvSpPr txBox="1"/>
          <p:nvPr>
            <p:ph idx="10" type="dt"/>
          </p:nvPr>
        </p:nvSpPr>
        <p:spPr>
          <a:xfrm>
            <a:off x="5318760" y="1344502"/>
            <a:ext cx="1554480" cy="498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1629157" y="5177408"/>
            <a:ext cx="566013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604504" y="5177408"/>
            <a:ext cx="19583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" type="body"/>
          </p:nvPr>
        </p:nvSpPr>
        <p:spPr>
          <a:xfrm>
            <a:off x="106680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1" name="Google Shape;51;p28"/>
          <p:cNvSpPr txBox="1"/>
          <p:nvPr>
            <p:ph idx="2" type="body"/>
          </p:nvPr>
        </p:nvSpPr>
        <p:spPr>
          <a:xfrm>
            <a:off x="646176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2" name="Google Shape;52;p28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" type="body"/>
          </p:nvPr>
        </p:nvSpPr>
        <p:spPr>
          <a:xfrm>
            <a:off x="1069848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1" i="0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29"/>
          <p:cNvSpPr txBox="1"/>
          <p:nvPr>
            <p:ph idx="2" type="body"/>
          </p:nvPr>
        </p:nvSpPr>
        <p:spPr>
          <a:xfrm>
            <a:off x="1069848" y="2792472"/>
            <a:ext cx="4663440" cy="31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9" name="Google Shape;59;p29"/>
          <p:cNvSpPr txBox="1"/>
          <p:nvPr>
            <p:ph idx="3" type="body"/>
          </p:nvPr>
        </p:nvSpPr>
        <p:spPr>
          <a:xfrm>
            <a:off x="6458712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1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29"/>
          <p:cNvSpPr txBox="1"/>
          <p:nvPr>
            <p:ph idx="4" type="body"/>
          </p:nvPr>
        </p:nvSpPr>
        <p:spPr>
          <a:xfrm>
            <a:off x="6458712" y="2792471"/>
            <a:ext cx="4663440" cy="3164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61" name="Google Shape;61;p29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solidFill>
          <a:srgbClr val="6B8B7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2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2"/>
          <p:cNvSpPr txBox="1"/>
          <p:nvPr>
            <p:ph type="title"/>
          </p:nvPr>
        </p:nvSpPr>
        <p:spPr>
          <a:xfrm>
            <a:off x="8458200" y="607392"/>
            <a:ext cx="3161963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b="0" sz="3200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" type="body"/>
          </p:nvPr>
        </p:nvSpPr>
        <p:spPr>
          <a:xfrm>
            <a:off x="685800" y="609600"/>
            <a:ext cx="6858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900"/>
              <a:buChar char="◦"/>
              <a:defRPr sz="1900"/>
            </a:lvl1pPr>
            <a:lvl2pPr indent="-3302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78" name="Google Shape;78;p32"/>
          <p:cNvSpPr txBox="1"/>
          <p:nvPr>
            <p:ph idx="2" type="body"/>
          </p:nvPr>
        </p:nvSpPr>
        <p:spPr>
          <a:xfrm>
            <a:off x="8458200" y="2336800"/>
            <a:ext cx="3161963" cy="3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32"/>
          <p:cNvSpPr txBox="1"/>
          <p:nvPr>
            <p:ph idx="10" type="dt"/>
          </p:nvPr>
        </p:nvSpPr>
        <p:spPr>
          <a:xfrm>
            <a:off x="5588000" y="6035040"/>
            <a:ext cx="195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1" type="ftr"/>
          </p:nvPr>
        </p:nvSpPr>
        <p:spPr>
          <a:xfrm>
            <a:off x="685801" y="6035040"/>
            <a:ext cx="45847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10396728" y="6035040"/>
            <a:ext cx="12234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solidFill>
          <a:srgbClr val="6B8B7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>
            <p:ph idx="2" type="pic"/>
          </p:nvPr>
        </p:nvSpPr>
        <p:spPr>
          <a:xfrm>
            <a:off x="228599" y="237744"/>
            <a:ext cx="7696201" cy="6382512"/>
          </a:xfrm>
          <a:prstGeom prst="rect">
            <a:avLst/>
          </a:prstGeom>
          <a:solidFill>
            <a:srgbClr val="BFCBCB"/>
          </a:solidFill>
          <a:ln>
            <a:noFill/>
          </a:ln>
        </p:spPr>
      </p:sp>
      <p:sp>
        <p:nvSpPr>
          <p:cNvPr id="85" name="Google Shape;85;p33"/>
          <p:cNvSpPr txBox="1"/>
          <p:nvPr>
            <p:ph idx="10" type="dt"/>
          </p:nvPr>
        </p:nvSpPr>
        <p:spPr>
          <a:xfrm>
            <a:off x="5662337" y="6035040"/>
            <a:ext cx="20719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1" type="ftr"/>
          </p:nvPr>
        </p:nvSpPr>
        <p:spPr>
          <a:xfrm>
            <a:off x="612648" y="6035040"/>
            <a:ext cx="45880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10396728" y="6035040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88" name="Google Shape;88;p33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 txBox="1"/>
          <p:nvPr>
            <p:ph type="title"/>
          </p:nvPr>
        </p:nvSpPr>
        <p:spPr>
          <a:xfrm>
            <a:off x="8477250" y="603504"/>
            <a:ext cx="314477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b="0" sz="3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" type="body"/>
          </p:nvPr>
        </p:nvSpPr>
        <p:spPr>
          <a:xfrm>
            <a:off x="8477250" y="2386584"/>
            <a:ext cx="3144774" cy="3511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" type="body"/>
          </p:nvPr>
        </p:nvSpPr>
        <p:spPr>
          <a:xfrm rot="5400000">
            <a:off x="4171188" y="-1001268"/>
            <a:ext cx="3849624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4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"/>
          <p:cNvSpPr txBox="1"/>
          <p:nvPr>
            <p:ph type="title"/>
          </p:nvPr>
        </p:nvSpPr>
        <p:spPr>
          <a:xfrm rot="5400000">
            <a:off x="7543800" y="2209800"/>
            <a:ext cx="5257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1" type="body"/>
          </p:nvPr>
        </p:nvSpPr>
        <p:spPr>
          <a:xfrm rot="5400000">
            <a:off x="2247900" y="-647700"/>
            <a:ext cx="5257800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8B7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" name="Google Shape;7;p24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rgbClr val="BFBFB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4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cap="sq" cmpd="sng" w="952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2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200"/>
              <a:buFont typeface="Century Schoolbook"/>
              <a:buNone/>
              <a:defRPr b="0" i="0" sz="42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Garamond"/>
              <a:buChar char="◦"/>
              <a:defRPr b="0" i="0" sz="1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115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Garamond"/>
              <a:buChar char="◦"/>
              <a:defRPr b="0" i="0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Garamond"/>
              <a:buChar char="◦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Garamond"/>
              <a:buChar char="◦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Garamond"/>
              <a:buChar char="◦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9" name="Google Shape;109;p1"/>
          <p:cNvCxnSpPr/>
          <p:nvPr/>
        </p:nvCxnSpPr>
        <p:spPr>
          <a:xfrm>
            <a:off x="4059935" y="1596290"/>
            <a:ext cx="0" cy="3657600"/>
          </a:xfrm>
          <a:prstGeom prst="straightConnector1">
            <a:avLst/>
          </a:prstGeom>
          <a:noFill/>
          <a:ln cap="flat" cmpd="sng" w="19050">
            <a:solidFill>
              <a:srgbClr val="FFFF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"/>
          <p:cNvSpPr/>
          <p:nvPr/>
        </p:nvSpPr>
        <p:spPr>
          <a:xfrm>
            <a:off x="682752" y="685800"/>
            <a:ext cx="10826496" cy="5486400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>
            <p:ph type="ctrTitle"/>
          </p:nvPr>
        </p:nvSpPr>
        <p:spPr>
          <a:xfrm>
            <a:off x="4321050" y="1411351"/>
            <a:ext cx="7020600" cy="4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40"/>
              <a:buFont typeface="Century Schoolbook"/>
              <a:buNone/>
            </a:pPr>
            <a:r>
              <a:rPr lang="pl-PL" sz="414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Document Intelligence: Klasyfikacja typów dokumentów na zbiorze RVL-CDIP z użyciem CNN </a:t>
            </a:r>
            <a:endParaRPr sz="414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40"/>
              <a:buFont typeface="Century Schoolbook"/>
              <a:buNone/>
            </a:pPr>
            <a:r>
              <a:rPr lang="pl-PL" sz="414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 Vision Transformer</a:t>
            </a:r>
            <a:endParaRPr sz="374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2" name="Google Shape;112;p1"/>
          <p:cNvSpPr txBox="1"/>
          <p:nvPr>
            <p:ph idx="1" type="subTitle"/>
          </p:nvPr>
        </p:nvSpPr>
        <p:spPr>
          <a:xfrm>
            <a:off x="777586" y="810275"/>
            <a:ext cx="2949600" cy="5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l-PL" sz="2300">
                <a:solidFill>
                  <a:srgbClr val="FFFFFF"/>
                </a:solidFill>
              </a:rPr>
              <a:t>Łukasz Kortals Paweł Józefczyk Karolina Kornacka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473982" y="488542"/>
            <a:ext cx="11244036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19" name="Google Shape;119;p2"/>
          <p:cNvCxnSpPr/>
          <p:nvPr/>
        </p:nvCxnSpPr>
        <p:spPr>
          <a:xfrm>
            <a:off x="4684442" y="2057401"/>
            <a:ext cx="0" cy="2743200"/>
          </a:xfrm>
          <a:prstGeom prst="straightConnector1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"/>
          <p:cNvSpPr/>
          <p:nvPr/>
        </p:nvSpPr>
        <p:spPr>
          <a:xfrm>
            <a:off x="669036" y="685800"/>
            <a:ext cx="10853928" cy="5486400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>
            <p:ph type="title"/>
          </p:nvPr>
        </p:nvSpPr>
        <p:spPr>
          <a:xfrm>
            <a:off x="866452" y="1000375"/>
            <a:ext cx="2855100" cy="48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lang="pl-PL" sz="4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Agenda</a:t>
            </a:r>
            <a:endParaRPr sz="41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22" name="Google Shape;122;p2"/>
          <p:cNvGrpSpPr/>
          <p:nvPr/>
        </p:nvGrpSpPr>
        <p:grpSpPr>
          <a:xfrm>
            <a:off x="4954441" y="1357948"/>
            <a:ext cx="6212400" cy="4142105"/>
            <a:chOff x="0" y="415"/>
            <a:chExt cx="6212400" cy="4142105"/>
          </a:xfrm>
        </p:grpSpPr>
        <p:sp>
          <p:nvSpPr>
            <p:cNvPr id="123" name="Google Shape;123;p2"/>
            <p:cNvSpPr/>
            <p:nvPr/>
          </p:nvSpPr>
          <p:spPr>
            <a:xfrm>
              <a:off x="0" y="415"/>
              <a:ext cx="6212400" cy="571200"/>
            </a:xfrm>
            <a:prstGeom prst="roundRect">
              <a:avLst>
                <a:gd fmla="val 10000" name="adj"/>
              </a:avLst>
            </a:prstGeom>
            <a:solidFill>
              <a:srgbClr val="DBD1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72831" y="128967"/>
              <a:ext cx="314100" cy="314100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59903" y="415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659903" y="415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450" lIns="60450" spcFirstLastPara="1" rIns="60450" wrap="square" tIns="6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ibre Franklin"/>
                <a:buNone/>
              </a:pPr>
              <a:r>
                <a:rPr b="0" i="0" lang="pl-PL" sz="15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Problem i cel projektu</a:t>
              </a:r>
              <a:endParaRPr b="0" i="0" sz="1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0" y="714596"/>
              <a:ext cx="6212400" cy="571200"/>
            </a:xfrm>
            <a:prstGeom prst="roundRect">
              <a:avLst>
                <a:gd fmla="val 10000" name="adj"/>
              </a:avLst>
            </a:prstGeom>
            <a:solidFill>
              <a:srgbClr val="DBD1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72831" y="843148"/>
              <a:ext cx="314100" cy="314100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59903" y="714596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659903" y="714596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450" lIns="60450" spcFirstLastPara="1" rIns="60450" wrap="square" tIns="6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ibre Franklin"/>
                <a:buNone/>
              </a:pPr>
              <a:r>
                <a:rPr b="0" i="0" lang="pl-PL" sz="15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Dataset RVL-CDIP</a:t>
              </a:r>
              <a:endParaRPr b="0" i="0" sz="1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0" y="1428777"/>
              <a:ext cx="6212400" cy="571200"/>
            </a:xfrm>
            <a:prstGeom prst="roundRect">
              <a:avLst>
                <a:gd fmla="val 10000" name="adj"/>
              </a:avLst>
            </a:prstGeom>
            <a:solidFill>
              <a:srgbClr val="DBD1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72831" y="1557329"/>
              <a:ext cx="314100" cy="314100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659903" y="1428777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659903" y="1428777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450" lIns="60450" spcFirstLastPara="1" rIns="60450" wrap="square" tIns="6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ibre Franklin"/>
                <a:buNone/>
              </a:pPr>
              <a:r>
                <a:rPr b="0" i="0" lang="pl-PL" sz="15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Pipeline i przygotowanie danych</a:t>
              </a:r>
              <a:endParaRPr b="0" i="0" sz="1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0" y="2142958"/>
              <a:ext cx="6212400" cy="571200"/>
            </a:xfrm>
            <a:prstGeom prst="roundRect">
              <a:avLst>
                <a:gd fmla="val 10000" name="adj"/>
              </a:avLst>
            </a:prstGeom>
            <a:solidFill>
              <a:srgbClr val="DBD1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72831" y="2271511"/>
              <a:ext cx="314100" cy="314100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659903" y="2142958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659903" y="2142958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450" lIns="60450" spcFirstLastPara="1" rIns="60450" wrap="square" tIns="6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ibre Franklin"/>
                <a:buNone/>
              </a:pPr>
              <a:r>
                <a:rPr b="0" i="0" lang="pl-PL" sz="15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Modele i trening</a:t>
              </a:r>
              <a:endParaRPr b="0" i="0" sz="1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0" y="2857139"/>
              <a:ext cx="6212400" cy="571200"/>
            </a:xfrm>
            <a:prstGeom prst="roundRect">
              <a:avLst>
                <a:gd fmla="val 10000" name="adj"/>
              </a:avLst>
            </a:prstGeom>
            <a:solidFill>
              <a:srgbClr val="DBD1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72831" y="2985692"/>
              <a:ext cx="314100" cy="314100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659903" y="2857139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 txBox="1"/>
            <p:nvPr/>
          </p:nvSpPr>
          <p:spPr>
            <a:xfrm>
              <a:off x="659903" y="2857139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450" lIns="60450" spcFirstLastPara="1" rIns="60450" wrap="square" tIns="6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ibre Franklin"/>
                <a:buNone/>
              </a:pPr>
              <a:r>
                <a:rPr b="0" i="0" lang="pl-PL" sz="15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Wyniki ilościowe i jakościowe</a:t>
              </a:r>
              <a:endParaRPr b="0" i="0" sz="15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0" y="3571320"/>
              <a:ext cx="6212400" cy="571200"/>
            </a:xfrm>
            <a:prstGeom prst="roundRect">
              <a:avLst>
                <a:gd fmla="val 10000" name="adj"/>
              </a:avLst>
            </a:prstGeom>
            <a:solidFill>
              <a:srgbClr val="DBD1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72831" y="3699873"/>
              <a:ext cx="314100" cy="314100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59903" y="3571320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659903" y="3571320"/>
              <a:ext cx="5552400" cy="5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450" lIns="60450" spcFirstLastPara="1" rIns="60450" wrap="square" tIns="6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onsolas"/>
                <a:buNone/>
              </a:pPr>
              <a:r>
                <a:rPr b="0" i="0" lang="pl-PL" sz="15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Wnioski i dalsze kierunki rozwoju</a:t>
              </a:r>
              <a:endParaRPr b="0" i="0" sz="1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/>
          <p:nvPr/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Obraz zawierający computer, tekst, komputer, Materiały biurowe&#10;&#10;Zawartość wygenerowana przez AI może być niepoprawna." id="152" name="Google Shape;152;p3"/>
          <p:cNvPicPr preferRelativeResize="0"/>
          <p:nvPr/>
        </p:nvPicPr>
        <p:blipFill rotWithShape="1">
          <a:blip r:embed="rId3">
            <a:alphaModFix/>
          </a:blip>
          <a:srcRect b="8294" l="0" r="9091" t="797"/>
          <a:stretch/>
        </p:blipFill>
        <p:spPr>
          <a:xfrm>
            <a:off x="16860" y="16839"/>
            <a:ext cx="1219198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"/>
          <p:cNvSpPr/>
          <p:nvPr/>
        </p:nvSpPr>
        <p:spPr>
          <a:xfrm>
            <a:off x="254750" y="399750"/>
            <a:ext cx="5083800" cy="6058500"/>
          </a:xfrm>
          <a:prstGeom prst="rect">
            <a:avLst/>
          </a:prstGeom>
          <a:solidFill>
            <a:schemeClr val="lt1">
              <a:alpha val="9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4" name="Google Shape;154;p3"/>
          <p:cNvSpPr txBox="1"/>
          <p:nvPr>
            <p:ph idx="1" type="body"/>
          </p:nvPr>
        </p:nvSpPr>
        <p:spPr>
          <a:xfrm>
            <a:off x="557750" y="1153225"/>
            <a:ext cx="4477800" cy="4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828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W wielu organizacjach każdego dnia przetwarzane są tysiące dokumentów, takich jak faktury, formularze, raporty czy korespondencja.</a:t>
            </a:r>
            <a:endParaRPr/>
          </a:p>
          <a:p>
            <a:pPr indent="0" lvl="0" marL="1828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828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Aby dokument mógł zostać dalej przetworzony, najpierw należy </a:t>
            </a:r>
            <a:r>
              <a:rPr b="1" lang="pl-PL"/>
              <a:t>rozpoznać jego typ</a:t>
            </a:r>
            <a:r>
              <a:rPr lang="pl-PL"/>
              <a:t> i przypisać go do odpowiedniego procesu.</a:t>
            </a:r>
            <a:endParaRPr/>
          </a:p>
          <a:p>
            <a:pPr indent="0" lvl="0" marL="1828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82880" rtl="0" algn="just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Ponieważ ręczna klasyfikacja jest kosztowna i mało skalowalna, coraz większe znaczenie mają </a:t>
            </a:r>
            <a:r>
              <a:rPr b="1" lang="pl-PL"/>
              <a:t>automatyczne systemy klasyfikacji dokumentów oparte na uczeniu maszynowym</a:t>
            </a:r>
            <a:r>
              <a:rPr lang="pl-PL"/>
              <a:t>.</a:t>
            </a:r>
            <a:endParaRPr/>
          </a:p>
          <a:p>
            <a:pPr indent="-8762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200"/>
              <a:buFont typeface="Century Schoolbook"/>
              <a:buNone/>
            </a:pPr>
            <a:r>
              <a:rPr lang="pl-PL" sz="4400"/>
              <a:t>Cel projektu</a:t>
            </a:r>
            <a:endParaRPr sz="4400"/>
          </a:p>
        </p:txBody>
      </p:sp>
      <p:sp>
        <p:nvSpPr>
          <p:cNvPr id="160" name="Google Shape;160;p4"/>
          <p:cNvSpPr txBox="1"/>
          <p:nvPr/>
        </p:nvSpPr>
        <p:spPr>
          <a:xfrm>
            <a:off x="1667150" y="1902900"/>
            <a:ext cx="9699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4888300" y="1902900"/>
            <a:ext cx="736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1066800" y="1902900"/>
            <a:ext cx="9576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Franklin"/>
              <a:buChar char="●"/>
            </a:pPr>
            <a:r>
              <a:rPr b="0" i="0" lang="pl-PL" sz="1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Automatyczna klasyfikacja typu dokumentu</a:t>
            </a:r>
            <a:endParaRPr b="0" i="0" sz="17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Franklin"/>
              <a:buChar char="●"/>
            </a:pPr>
            <a:r>
              <a:rPr b="0" i="0" lang="pl-PL" sz="1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Podejście </a:t>
            </a:r>
            <a:r>
              <a:rPr b="1" i="0" lang="pl-PL" sz="1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image-only</a:t>
            </a:r>
            <a:r>
              <a:rPr b="0" i="0" lang="pl-PL" sz="1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bez OCR i bez analizy tekstu</a:t>
            </a:r>
            <a:endParaRPr b="0" i="0" sz="17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Franklin"/>
              <a:buChar char="●"/>
            </a:pPr>
            <a:r>
              <a:rPr b="0" i="0" lang="pl-PL" sz="1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Porównanie dwóch modeli:</a:t>
            </a:r>
            <a:endParaRPr b="0" i="0" sz="17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l-PL" sz="1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CNN </a:t>
            </a:r>
            <a:r>
              <a:rPr b="0" i="0" lang="pl-PL" sz="1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jako baseline</a:t>
            </a:r>
            <a:endParaRPr b="0" i="0" sz="17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l-PL" sz="1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Vision Transformer</a:t>
            </a:r>
            <a:endParaRPr b="0" i="0" sz="17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Franklin"/>
              <a:buChar char="●"/>
            </a:pPr>
            <a:r>
              <a:rPr b="0" i="0" lang="pl-PL" sz="17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Cel: ocena, czy sam obraz dokumentu wystarcza do skutecznej klasyfikacji</a:t>
            </a:r>
            <a:endParaRPr b="0" i="0" sz="17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200"/>
              <a:buFont typeface="Century Schoolbook"/>
              <a:buNone/>
            </a:pPr>
            <a:r>
              <a:rPr lang="pl-PL"/>
              <a:t>Dataset</a:t>
            </a:r>
            <a:endParaRPr/>
          </a:p>
        </p:txBody>
      </p:sp>
      <p:grpSp>
        <p:nvGrpSpPr>
          <p:cNvPr id="168" name="Google Shape;168;p5"/>
          <p:cNvGrpSpPr/>
          <p:nvPr/>
        </p:nvGrpSpPr>
        <p:grpSpPr>
          <a:xfrm>
            <a:off x="1066804" y="1754126"/>
            <a:ext cx="8379205" cy="3349746"/>
            <a:chOff x="344932" y="52176"/>
            <a:chExt cx="9368521" cy="3745244"/>
          </a:xfrm>
        </p:grpSpPr>
        <p:sp>
          <p:nvSpPr>
            <p:cNvPr id="169" name="Google Shape;169;p5"/>
            <p:cNvSpPr/>
            <p:nvPr/>
          </p:nvSpPr>
          <p:spPr>
            <a:xfrm>
              <a:off x="344932" y="52176"/>
              <a:ext cx="812100" cy="812100"/>
            </a:xfrm>
            <a:prstGeom prst="ellipse">
              <a:avLst/>
            </a:prstGeom>
            <a:solidFill>
              <a:srgbClr val="DCE1E1"/>
            </a:solidFill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515480" y="222724"/>
              <a:ext cx="471000" cy="471000"/>
            </a:xfrm>
            <a:prstGeom prst="rect">
              <a:avLst/>
            </a:prstGeom>
            <a:noFill/>
            <a:ln cap="flat" cmpd="sng" w="113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331094" y="52176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1331094" y="52176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47"/>
                <a:buFont typeface="Libre Franklin"/>
                <a:buNone/>
              </a:pPr>
              <a:r>
                <a:rPr b="0" i="0" lang="pl-PL" sz="1609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Dataset: RVL‑CDIP </a:t>
              </a:r>
              <a:endParaRPr b="0" i="0" sz="1609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3578962" y="52176"/>
              <a:ext cx="812100" cy="812100"/>
            </a:xfrm>
            <a:prstGeom prst="ellipse">
              <a:avLst/>
            </a:prstGeom>
            <a:solidFill>
              <a:srgbClr val="DCE1E1"/>
            </a:solidFill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3749510" y="222724"/>
              <a:ext cx="471000" cy="471000"/>
            </a:xfrm>
            <a:prstGeom prst="rect">
              <a:avLst/>
            </a:prstGeom>
            <a:noFill/>
            <a:ln cap="flat" cmpd="sng" w="113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4565123" y="52176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4565123" y="52176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47"/>
                <a:buFont typeface="Libre Franklin"/>
                <a:buNone/>
              </a:pPr>
              <a:r>
                <a:rPr b="0" i="0" lang="pl-PL" sz="1609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16 klas dokumentów </a:t>
              </a:r>
              <a:endParaRPr b="0" i="0" sz="16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7799153" y="52176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344932" y="1518745"/>
              <a:ext cx="812100" cy="812100"/>
            </a:xfrm>
            <a:prstGeom prst="ellipse">
              <a:avLst/>
            </a:prstGeom>
            <a:solidFill>
              <a:srgbClr val="DCE1E1"/>
            </a:solidFill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515480" y="1689293"/>
              <a:ext cx="471000" cy="471000"/>
            </a:xfrm>
            <a:prstGeom prst="rect">
              <a:avLst/>
            </a:prstGeom>
            <a:noFill/>
            <a:ln cap="flat" cmpd="sng" w="113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1331094" y="1518745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1331101" y="1518755"/>
              <a:ext cx="2280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47"/>
                <a:buFont typeface="Libre Franklin"/>
                <a:buNone/>
              </a:pPr>
              <a:r>
                <a:rPr b="0" i="0" lang="pl-PL" sz="1609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</a:t>
              </a:r>
              <a:r>
                <a:rPr b="0" i="0" lang="pl-PL" sz="1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subset: </a:t>
              </a:r>
              <a:r>
                <a:rPr b="1" i="0" lang="pl-PL" sz="1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800 / 100 / 100 per class</a:t>
              </a:r>
              <a:endParaRPr b="0" i="0" sz="1609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578962" y="1518745"/>
              <a:ext cx="812100" cy="812100"/>
            </a:xfrm>
            <a:prstGeom prst="ellipse">
              <a:avLst/>
            </a:prstGeom>
            <a:solidFill>
              <a:srgbClr val="DCE1E1"/>
            </a:solidFill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3749510" y="1689293"/>
              <a:ext cx="471000" cy="471000"/>
            </a:xfrm>
            <a:prstGeom prst="rect">
              <a:avLst/>
            </a:prstGeom>
            <a:noFill/>
            <a:ln cap="flat" cmpd="sng" w="113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4565123" y="1518745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4565127" y="1518755"/>
              <a:ext cx="39771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2147"/>
                <a:buFont typeface="Calibri"/>
                <a:buNone/>
              </a:pPr>
              <a:r>
                <a:rPr b="0" i="0" lang="pl-PL" sz="1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razem: </a:t>
              </a:r>
              <a:r>
                <a:rPr b="1" i="0" lang="pl-PL" sz="1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12 800 train / 1 600 val / 1 600 test</a:t>
              </a:r>
              <a:endParaRPr b="0" i="0" sz="1609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6824055" y="2985320"/>
              <a:ext cx="812100" cy="812100"/>
            </a:xfrm>
            <a:prstGeom prst="ellipse">
              <a:avLst/>
            </a:prstGeom>
            <a:solidFill>
              <a:srgbClr val="DCE1E1"/>
            </a:solidFill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799153" y="1518745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7799150" y="3155881"/>
              <a:ext cx="1914300" cy="4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2147"/>
                <a:buFont typeface="Calibri"/>
                <a:buNone/>
              </a:pPr>
              <a:r>
                <a:rPr b="0" i="0" lang="pl-PL" sz="160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others</a:t>
              </a:r>
              <a:endParaRPr b="0" i="0" sz="1609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344932" y="2985314"/>
              <a:ext cx="812100" cy="812100"/>
            </a:xfrm>
            <a:prstGeom prst="ellipse">
              <a:avLst/>
            </a:prstGeom>
            <a:solidFill>
              <a:srgbClr val="DCE1E1"/>
            </a:solidFill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15480" y="3155862"/>
              <a:ext cx="471000" cy="471000"/>
            </a:xfrm>
            <a:prstGeom prst="rect">
              <a:avLst/>
            </a:prstGeom>
            <a:noFill/>
            <a:ln cap="flat" cmpd="sng" w="113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1331094" y="2985314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"/>
            <p:cNvSpPr txBox="1"/>
            <p:nvPr/>
          </p:nvSpPr>
          <p:spPr>
            <a:xfrm>
              <a:off x="1331100" y="2985305"/>
              <a:ext cx="22188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2147"/>
                <a:buFont typeface="Calibri"/>
                <a:buNone/>
              </a:pPr>
              <a:r>
                <a:rPr b="0" i="0" lang="pl-PL" sz="1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letter</a:t>
              </a:r>
              <a:endParaRPr b="0" i="0" sz="2593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3578962" y="2985314"/>
              <a:ext cx="812100" cy="812100"/>
            </a:xfrm>
            <a:prstGeom prst="ellipse">
              <a:avLst/>
            </a:prstGeom>
            <a:solidFill>
              <a:srgbClr val="DCE1E1"/>
            </a:solidFill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3749510" y="3155862"/>
              <a:ext cx="471000" cy="471000"/>
            </a:xfrm>
            <a:prstGeom prst="rect">
              <a:avLst/>
            </a:prstGeom>
            <a:noFill/>
            <a:ln cap="flat" cmpd="sng" w="113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4565123" y="2985314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5"/>
            <p:cNvSpPr txBox="1"/>
            <p:nvPr/>
          </p:nvSpPr>
          <p:spPr>
            <a:xfrm>
              <a:off x="4565125" y="2985305"/>
              <a:ext cx="8697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444"/>
                </a:buClr>
                <a:buSzPts val="2147"/>
                <a:buFont typeface="Calibri"/>
                <a:buNone/>
              </a:pPr>
              <a:r>
                <a:rPr b="0" i="0" lang="pl-PL" sz="1431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invoice</a:t>
              </a:r>
              <a:endParaRPr b="0" i="0" sz="2593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6983527" y="3155868"/>
              <a:ext cx="471000" cy="471000"/>
            </a:xfrm>
            <a:prstGeom prst="rect">
              <a:avLst/>
            </a:prstGeom>
            <a:noFill/>
            <a:ln cap="flat" cmpd="sng" w="113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6812992" y="52176"/>
              <a:ext cx="812100" cy="812100"/>
            </a:xfrm>
            <a:prstGeom prst="ellipse">
              <a:avLst/>
            </a:prstGeom>
            <a:solidFill>
              <a:srgbClr val="DCE1E1"/>
            </a:solidFill>
            <a:ln>
              <a:noFill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6983540" y="222724"/>
              <a:ext cx="471000" cy="471000"/>
            </a:xfrm>
            <a:prstGeom prst="rect">
              <a:avLst/>
            </a:prstGeom>
            <a:noFill/>
            <a:ln cap="flat" cmpd="sng" w="113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775" lIns="81775" spcFirstLastPara="1" rIns="81775" wrap="square" tIns="8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5"/>
            <p:cNvSpPr txBox="1"/>
            <p:nvPr/>
          </p:nvSpPr>
          <p:spPr>
            <a:xfrm>
              <a:off x="7799153" y="52176"/>
              <a:ext cx="1914300" cy="8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47"/>
                <a:buFont typeface="Libre Franklin"/>
                <a:buNone/>
              </a:pPr>
              <a:r>
                <a:rPr b="0" i="0" lang="pl-PL" sz="1431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400 000 obrazów, 25 000 na klasę</a:t>
              </a:r>
              <a:endParaRPr b="0" i="0" sz="1431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Struktura projektu</a:t>
            </a:r>
            <a:endParaRPr/>
          </a:p>
        </p:txBody>
      </p:sp>
      <p:sp>
        <p:nvSpPr>
          <p:cNvPr id="206" name="Google Shape;206;p6"/>
          <p:cNvSpPr txBox="1"/>
          <p:nvPr>
            <p:ph idx="1" type="body"/>
          </p:nvPr>
        </p:nvSpPr>
        <p:spPr>
          <a:xfrm>
            <a:off x="1066800" y="2014200"/>
            <a:ext cx="6863400" cy="3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pl-PL" sz="1400">
                <a:solidFill>
                  <a:srgbClr val="868362"/>
                </a:solidFill>
              </a:rPr>
              <a:t>data/</a:t>
            </a:r>
            <a:r>
              <a:rPr lang="pl-PL" sz="1400"/>
              <a:t> — dane surowe i przetworzone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pl-PL" sz="1400">
                <a:solidFill>
                  <a:srgbClr val="868362"/>
                </a:solidFill>
              </a:rPr>
              <a:t>scripts/</a:t>
            </a:r>
            <a:r>
              <a:rPr lang="pl-PL" sz="1400"/>
              <a:t> — split i walidacja obrazów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pl-PL" sz="1400">
                <a:solidFill>
                  <a:srgbClr val="868362"/>
                </a:solidFill>
              </a:rPr>
              <a:t>src/datasets/</a:t>
            </a:r>
            <a:r>
              <a:rPr lang="pl-PL" sz="1400"/>
              <a:t> — loader danych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pl-PL" sz="1400">
                <a:solidFill>
                  <a:srgbClr val="868362"/>
                </a:solidFill>
              </a:rPr>
              <a:t>src/models/</a:t>
            </a:r>
            <a:r>
              <a:rPr lang="pl-PL" sz="1400"/>
              <a:t> — modele CNN i ViT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pl-PL" sz="1400">
                <a:solidFill>
                  <a:srgbClr val="868362"/>
                </a:solidFill>
              </a:rPr>
              <a:t>src/training/ </a:t>
            </a:r>
            <a:r>
              <a:rPr lang="pl-PL" sz="1400"/>
              <a:t>— trening i ewaluacja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pl-PL" sz="1400">
                <a:solidFill>
                  <a:srgbClr val="868362"/>
                </a:solidFill>
              </a:rPr>
              <a:t>outputs/checkpoints/</a:t>
            </a:r>
            <a:r>
              <a:rPr lang="pl-PL" sz="1400"/>
              <a:t> — zapisane modele i wyniki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pl-PL" sz="1400">
                <a:solidFill>
                  <a:srgbClr val="868362"/>
                </a:solidFill>
              </a:rPr>
              <a:t>notebooks/</a:t>
            </a:r>
            <a:r>
              <a:rPr lang="pl-PL" sz="1400"/>
              <a:t> — materiały prezentacyjne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1be3e8b6f_0_11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Przygotowanie danych</a:t>
            </a:r>
            <a:endParaRPr/>
          </a:p>
        </p:txBody>
      </p:sp>
      <p:sp>
        <p:nvSpPr>
          <p:cNvPr id="212" name="Google Shape;212;g3d1be3e8b6f_0_11"/>
          <p:cNvSpPr txBox="1"/>
          <p:nvPr>
            <p:ph idx="1" type="body"/>
          </p:nvPr>
        </p:nvSpPr>
        <p:spPr>
          <a:xfrm>
            <a:off x="1066800" y="2103125"/>
            <a:ext cx="10058400" cy="3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lang="pl-PL" sz="1400"/>
              <a:t>utworzenie subsetu i podział na train / val / test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sz="1400"/>
              <a:t>sprawdzenie poprawności obrazów i wykrywanie uszkodzonych plików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sz="1400"/>
              <a:t>bezpieczne ładowanie danych odporne na błędne obrazy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sz="1400"/>
              <a:t>preprocessing: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-PL" sz="1400"/>
              <a:t>resize do 224 × 224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-PL" sz="1400"/>
              <a:t>konwersja do RGB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-PL" sz="1400"/>
              <a:t>zamiana na tensor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-PL" sz="1400"/>
              <a:t>normalizacja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sz="1400"/>
              <a:t>augmentacja dla zbioru treningowego: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-PL" sz="1400"/>
              <a:t>ColorJitter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-PL" sz="1400"/>
              <a:t>RandomRotation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Pipeline treningu</a:t>
            </a:r>
            <a:endParaRPr/>
          </a:p>
        </p:txBody>
      </p:sp>
      <p:grpSp>
        <p:nvGrpSpPr>
          <p:cNvPr id="218" name="Google Shape;218;p13"/>
          <p:cNvGrpSpPr/>
          <p:nvPr/>
        </p:nvGrpSpPr>
        <p:grpSpPr>
          <a:xfrm>
            <a:off x="1066812" y="2070375"/>
            <a:ext cx="8552938" cy="3478180"/>
            <a:chOff x="255715" y="1526"/>
            <a:chExt cx="6476064" cy="4430803"/>
          </a:xfrm>
        </p:grpSpPr>
        <p:sp>
          <p:nvSpPr>
            <p:cNvPr id="219" name="Google Shape;219;p13"/>
            <p:cNvSpPr/>
            <p:nvPr/>
          </p:nvSpPr>
          <p:spPr>
            <a:xfrm>
              <a:off x="255715" y="1526"/>
              <a:ext cx="1704300" cy="1022400"/>
            </a:xfrm>
            <a:prstGeom prst="roundRect">
              <a:avLst>
                <a:gd fmla="val 10000" name="adj"/>
              </a:avLst>
            </a:prstGeom>
            <a:solidFill>
              <a:schemeClr val="accent5"/>
            </a:solidFill>
            <a:ln cap="flat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0" name="Google Shape;220;p13"/>
            <p:cNvSpPr txBox="1"/>
            <p:nvPr/>
          </p:nvSpPr>
          <p:spPr>
            <a:xfrm>
              <a:off x="285664" y="31475"/>
              <a:ext cx="1644300" cy="9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96"/>
                <a:buFont typeface="Libre Franklin"/>
                <a:buNone/>
              </a:pPr>
              <a:r>
                <a:rPr b="0" i="0" lang="pl-PL" sz="1292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DataLoadery (train / val / test)</a:t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2109886" y="301466"/>
              <a:ext cx="361200" cy="4227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2" name="Google Shape;222;p13"/>
            <p:cNvSpPr txBox="1"/>
            <p:nvPr/>
          </p:nvSpPr>
          <p:spPr>
            <a:xfrm>
              <a:off x="2109886" y="385994"/>
              <a:ext cx="2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60"/>
                <a:buFont typeface="Libre Franklin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2641597" y="1526"/>
              <a:ext cx="1704300" cy="1022400"/>
            </a:xfrm>
            <a:prstGeom prst="roundRect">
              <a:avLst>
                <a:gd fmla="val 10000" name="adj"/>
              </a:avLst>
            </a:prstGeom>
            <a:solidFill>
              <a:srgbClr val="8F7D8D"/>
            </a:solidFill>
            <a:ln cap="flat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4" name="Google Shape;224;p13"/>
            <p:cNvSpPr txBox="1"/>
            <p:nvPr/>
          </p:nvSpPr>
          <p:spPr>
            <a:xfrm>
              <a:off x="2671546" y="31475"/>
              <a:ext cx="1644300" cy="9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96"/>
                <a:buFont typeface="Libre Franklin"/>
                <a:buNone/>
              </a:pPr>
              <a:r>
                <a:rPr b="0" i="0" lang="pl-PL" sz="1292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Model (CNN / ViT)</a:t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4495768" y="301466"/>
              <a:ext cx="361200" cy="4227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8D7C8F"/>
            </a:solidFill>
            <a:ln>
              <a:noFill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6" name="Google Shape;226;p13"/>
            <p:cNvSpPr txBox="1"/>
            <p:nvPr/>
          </p:nvSpPr>
          <p:spPr>
            <a:xfrm>
              <a:off x="4495768" y="385994"/>
              <a:ext cx="2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60"/>
                <a:buFont typeface="Libre Franklin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5027479" y="1526"/>
              <a:ext cx="1704300" cy="1022400"/>
            </a:xfrm>
            <a:prstGeom prst="roundRect">
              <a:avLst>
                <a:gd fmla="val 10000" name="adj"/>
              </a:avLst>
            </a:prstGeom>
            <a:solidFill>
              <a:srgbClr val="7B778E"/>
            </a:solidFill>
            <a:ln cap="flat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8" name="Google Shape;228;p13"/>
            <p:cNvSpPr txBox="1"/>
            <p:nvPr/>
          </p:nvSpPr>
          <p:spPr>
            <a:xfrm>
              <a:off x="5057428" y="31475"/>
              <a:ext cx="1644300" cy="9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96"/>
                <a:buFont typeface="Libre Franklin"/>
                <a:buNone/>
              </a:pPr>
              <a:r>
                <a:rPr b="0" i="0" lang="pl-PL" sz="1292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Funkcja straty (CrossEntropyLoss) + optymalizator (AdamW)</a:t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 rot="5400000">
              <a:off x="5698950" y="1143267"/>
              <a:ext cx="361200" cy="4227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75758D"/>
            </a:solidFill>
            <a:ln>
              <a:noFill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0" name="Google Shape;230;p13"/>
            <p:cNvSpPr txBox="1"/>
            <p:nvPr/>
          </p:nvSpPr>
          <p:spPr>
            <a:xfrm>
              <a:off x="5752787" y="1174017"/>
              <a:ext cx="2535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60"/>
                <a:buFont typeface="Libre Franklin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5027479" y="1705728"/>
              <a:ext cx="1704300" cy="1022400"/>
            </a:xfrm>
            <a:prstGeom prst="roundRect">
              <a:avLst>
                <a:gd fmla="val 10000" name="adj"/>
              </a:avLst>
            </a:prstGeom>
            <a:solidFill>
              <a:srgbClr val="70828D"/>
            </a:solidFill>
            <a:ln cap="flat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rPr b="0" i="0" lang="pl-PL" sz="1292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Pętla treningu i walidacji</a:t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 rot="10800000">
              <a:off x="4516308" y="2005608"/>
              <a:ext cx="361200" cy="4227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E8C89"/>
            </a:solidFill>
            <a:ln>
              <a:noFill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3" name="Google Shape;233;p13"/>
            <p:cNvSpPr txBox="1"/>
            <p:nvPr/>
          </p:nvSpPr>
          <p:spPr>
            <a:xfrm>
              <a:off x="4624605" y="2090195"/>
              <a:ext cx="2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60"/>
                <a:buFont typeface="Libre Franklin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641597" y="1705728"/>
              <a:ext cx="1704300" cy="1022400"/>
            </a:xfrm>
            <a:prstGeom prst="roundRect">
              <a:avLst>
                <a:gd fmla="val 10000" name="adj"/>
              </a:avLst>
            </a:prstGeom>
            <a:solidFill>
              <a:srgbClr val="6B8B7A"/>
            </a:solidFill>
            <a:ln cap="flat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5" name="Google Shape;235;p13"/>
            <p:cNvSpPr txBox="1"/>
            <p:nvPr/>
          </p:nvSpPr>
          <p:spPr>
            <a:xfrm>
              <a:off x="2671546" y="1735677"/>
              <a:ext cx="1644300" cy="9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96"/>
                <a:buFont typeface="Libre Franklin"/>
                <a:buNone/>
              </a:pPr>
              <a:r>
                <a:rPr b="0" i="0" lang="pl-PL" sz="1292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Early stopping</a:t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 rot="10800000">
              <a:off x="2130426" y="2005608"/>
              <a:ext cx="361200" cy="4227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88968"/>
            </a:solidFill>
            <a:ln>
              <a:noFill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7" name="Google Shape;237;p13"/>
            <p:cNvSpPr txBox="1"/>
            <p:nvPr/>
          </p:nvSpPr>
          <p:spPr>
            <a:xfrm>
              <a:off x="2238723" y="2090195"/>
              <a:ext cx="2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60"/>
                <a:buFont typeface="Libre Franklin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255715" y="1705728"/>
              <a:ext cx="1704300" cy="1022400"/>
            </a:xfrm>
            <a:prstGeom prst="roundRect">
              <a:avLst>
                <a:gd fmla="val 10000" name="adj"/>
              </a:avLst>
            </a:prstGeom>
            <a:solidFill>
              <a:srgbClr val="718966"/>
            </a:solidFill>
            <a:ln cap="flat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9" name="Google Shape;239;p13"/>
            <p:cNvSpPr txBox="1"/>
            <p:nvPr/>
          </p:nvSpPr>
          <p:spPr>
            <a:xfrm>
              <a:off x="285664" y="1735677"/>
              <a:ext cx="1644300" cy="9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96"/>
                <a:buFont typeface="Libre Franklin"/>
                <a:buNone/>
              </a:pPr>
              <a:r>
                <a:rPr b="0" i="0" lang="pl-PL" sz="1292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Zapis najlepszego checkpointu</a:t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 rot="5400000">
              <a:off x="927186" y="2847468"/>
              <a:ext cx="361200" cy="4227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868362"/>
            </a:solidFill>
            <a:ln>
              <a:noFill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1" name="Google Shape;241;p13"/>
            <p:cNvSpPr txBox="1"/>
            <p:nvPr/>
          </p:nvSpPr>
          <p:spPr>
            <a:xfrm>
              <a:off x="981023" y="2878218"/>
              <a:ext cx="2535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60"/>
                <a:buFont typeface="Libre Franklin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255715" y="3409929"/>
              <a:ext cx="1704300" cy="1022400"/>
            </a:xfrm>
            <a:prstGeom prst="roundRect">
              <a:avLst>
                <a:gd fmla="val 10000" name="adj"/>
              </a:avLst>
            </a:prstGeom>
            <a:solidFill>
              <a:srgbClr val="877E61"/>
            </a:solidFill>
            <a:ln cap="flat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3" name="Google Shape;243;p13"/>
            <p:cNvSpPr txBox="1"/>
            <p:nvPr/>
          </p:nvSpPr>
          <p:spPr>
            <a:xfrm>
              <a:off x="285664" y="3439878"/>
              <a:ext cx="1644300" cy="9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96"/>
                <a:buFont typeface="Libre Franklin"/>
                <a:buNone/>
              </a:pPr>
              <a:r>
                <a:rPr b="0" i="0" lang="pl-PL" sz="1292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Ewaluacja na zbiorze testowym</a:t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2109886" y="3709868"/>
              <a:ext cx="361200" cy="4227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845C5C"/>
            </a:solidFill>
            <a:ln>
              <a:noFill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5" name="Google Shape;245;p13"/>
            <p:cNvSpPr txBox="1"/>
            <p:nvPr/>
          </p:nvSpPr>
          <p:spPr>
            <a:xfrm>
              <a:off x="2109886" y="3794396"/>
              <a:ext cx="2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60"/>
                <a:buFont typeface="Libre Franklin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2641597" y="3409929"/>
              <a:ext cx="1704300" cy="1022400"/>
            </a:xfrm>
            <a:prstGeom prst="roundRect">
              <a:avLst>
                <a:gd fmla="val 10000" name="adj"/>
              </a:avLst>
            </a:prstGeom>
            <a:solidFill>
              <a:srgbClr val="845C5C"/>
            </a:solidFill>
            <a:ln cap="flat" cmpd="sng" w="10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800" lIns="76800" spcFirstLastPara="1" rIns="76800" wrap="square" tIns="7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2"/>
                <a:buFont typeface="Arial"/>
                <a:buNone/>
              </a:pPr>
              <a:r>
                <a:t/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7" name="Google Shape;247;p13"/>
            <p:cNvSpPr txBox="1"/>
            <p:nvPr/>
          </p:nvSpPr>
          <p:spPr>
            <a:xfrm>
              <a:off x="2671546" y="3439878"/>
              <a:ext cx="1644300" cy="9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775" lIns="60775" spcFirstLastPara="1" rIns="60775" wrap="square" tIns="6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96"/>
                <a:buFont typeface="Libre Franklin"/>
                <a:buNone/>
              </a:pPr>
              <a:r>
                <a:rPr b="0" i="0" lang="pl-PL" sz="1292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Classification report </a:t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96"/>
                <a:buFont typeface="Libre Franklin"/>
                <a:buNone/>
              </a:pPr>
              <a:r>
                <a:rPr b="0" i="0" lang="pl-PL" sz="1292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 macierz konfuzji</a:t>
              </a:r>
              <a:endParaRPr b="0" i="0" sz="1292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1bf16c9d8_0_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l-PL" sz="3500">
                <a:latin typeface="Libre Franklin"/>
                <a:ea typeface="Libre Franklin"/>
                <a:cs typeface="Libre Franklin"/>
                <a:sym typeface="Libre Franklin"/>
              </a:rPr>
              <a:t>Porównanie modeli: CNN vs Vision Transformer</a:t>
            </a:r>
            <a:r>
              <a:rPr lang="pl-PL" sz="3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37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3" name="Google Shape;253;g3d1bf16c9d8_0_0"/>
          <p:cNvSpPr txBox="1"/>
          <p:nvPr>
            <p:ph idx="1" type="body"/>
          </p:nvPr>
        </p:nvSpPr>
        <p:spPr>
          <a:xfrm>
            <a:off x="626725" y="2387925"/>
            <a:ext cx="56160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l-PL" sz="1300"/>
              <a:t>CNN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ibre Franklin"/>
              <a:buChar char="●"/>
            </a:pPr>
            <a:r>
              <a:rPr lang="pl-PL" sz="1300"/>
              <a:t>model bazowy (</a:t>
            </a:r>
            <a:r>
              <a:rPr b="1" lang="pl-PL" sz="1300"/>
              <a:t>baseline</a:t>
            </a:r>
            <a:r>
              <a:rPr lang="pl-PL" sz="1300"/>
              <a:t>) do klasyfikacji obrazów dokumentów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ibre Franklin"/>
              <a:buChar char="●"/>
            </a:pPr>
            <a:r>
              <a:rPr lang="pl-PL" sz="1300"/>
              <a:t>prosty model konwolucyjny zbudowany w </a:t>
            </a:r>
            <a:r>
              <a:rPr b="1" lang="pl-PL" sz="1300"/>
              <a:t>PyTorch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ibre Franklin"/>
              <a:buChar char="●"/>
            </a:pPr>
            <a:r>
              <a:rPr b="1" lang="pl-PL" sz="1300"/>
              <a:t>4 warstwy konwolucyjne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68362"/>
              </a:buClr>
              <a:buSzPts val="1300"/>
              <a:buFont typeface="Libre Franklin"/>
              <a:buChar char="●"/>
            </a:pPr>
            <a:r>
              <a:rPr lang="pl-PL" sz="1300">
                <a:solidFill>
                  <a:srgbClr val="868362"/>
                </a:solidFill>
              </a:rPr>
              <a:t>ReLU, MaxPool, Adaptive Average Pooling</a:t>
            </a:r>
            <a:endParaRPr sz="1300">
              <a:solidFill>
                <a:srgbClr val="868362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ibre Franklin"/>
              <a:buChar char="●"/>
            </a:pPr>
            <a:r>
              <a:rPr lang="pl-PL" sz="1300"/>
              <a:t>prosty klasyfikator </a:t>
            </a:r>
            <a:r>
              <a:rPr b="1" lang="pl-PL" sz="1300"/>
              <a:t>MLP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ibre Franklin"/>
              <a:buChar char="●"/>
            </a:pPr>
            <a:r>
              <a:rPr lang="pl-PL" sz="1300"/>
              <a:t>trening </a:t>
            </a:r>
            <a:r>
              <a:rPr b="1" lang="pl-PL" sz="1300"/>
              <a:t>od zera</a:t>
            </a:r>
            <a:r>
              <a:rPr lang="pl-PL" sz="1300"/>
              <a:t>, bez pretrained weights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ibre Franklin"/>
              <a:buChar char="●"/>
            </a:pPr>
            <a:r>
              <a:rPr lang="pl-PL" sz="1300"/>
              <a:t>punkt odniesienia do porównania z ViT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4" name="Google Shape;254;g3d1bf16c9d8_0_0"/>
          <p:cNvSpPr txBox="1"/>
          <p:nvPr/>
        </p:nvSpPr>
        <p:spPr>
          <a:xfrm>
            <a:off x="6299800" y="2387925"/>
            <a:ext cx="546810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ViT-B/16</a:t>
            </a:r>
            <a:endParaRPr b="1" i="0" sz="13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Garamond"/>
              <a:buChar char="●"/>
            </a:pPr>
            <a:r>
              <a:rPr b="1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Vision Transformer</a:t>
            </a:r>
            <a:r>
              <a:rPr b="0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do klasyfikacji obrazów dokumentów</a:t>
            </a:r>
            <a:endParaRPr b="0" i="0" sz="13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Garamond"/>
              <a:buChar char="●"/>
            </a:pPr>
            <a:r>
              <a:rPr b="0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model oparty na architekturze </a:t>
            </a:r>
            <a:r>
              <a:rPr b="1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transformerowej</a:t>
            </a:r>
            <a:endParaRPr b="1" i="0" sz="13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Garamond"/>
              <a:buChar char="●"/>
            </a:pPr>
            <a:r>
              <a:rPr b="0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użyty w wersji </a:t>
            </a:r>
            <a:r>
              <a:rPr b="1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pretrained</a:t>
            </a:r>
            <a:endParaRPr b="1" i="0" sz="13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Garamond"/>
              <a:buChar char="●"/>
            </a:pPr>
            <a:r>
              <a:rPr b="0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następnie </a:t>
            </a:r>
            <a:r>
              <a:rPr b="1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fine-tuning</a:t>
            </a:r>
            <a:r>
              <a:rPr b="0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na zbiorze RVL-CDIP</a:t>
            </a:r>
            <a:endParaRPr b="0" i="0" sz="13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Garamond"/>
              <a:buChar char="●"/>
            </a:pPr>
            <a:r>
              <a:rPr b="0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końcowa warstwa dopasowana do </a:t>
            </a:r>
            <a:r>
              <a:rPr b="1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16 klas dokumentów</a:t>
            </a:r>
            <a:endParaRPr b="1" i="0" sz="13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Garamond"/>
              <a:buChar char="●"/>
            </a:pPr>
            <a:r>
              <a:rPr b="0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lepsze modelowanie </a:t>
            </a:r>
            <a:r>
              <a:rPr b="1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globalnego układu dokumentu</a:t>
            </a:r>
            <a:endParaRPr b="1" i="0" sz="13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Libre Franklin"/>
              <a:buChar char="●"/>
            </a:pPr>
            <a:r>
              <a:rPr b="0" i="0" lang="pl-PL" sz="13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mocniejszy model porównawczy względem CNN</a:t>
            </a:r>
            <a:endParaRPr b="0" i="0" sz="13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Konfiguracja treningu</a:t>
            </a:r>
            <a:endParaRPr/>
          </a:p>
        </p:txBody>
      </p:sp>
      <p:sp>
        <p:nvSpPr>
          <p:cNvPr id="260" name="Google Shape;260;p16"/>
          <p:cNvSpPr txBox="1"/>
          <p:nvPr>
            <p:ph idx="1" type="body"/>
          </p:nvPr>
        </p:nvSpPr>
        <p:spPr>
          <a:xfrm>
            <a:off x="1023500" y="1942775"/>
            <a:ext cx="4020300" cy="3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l-PL" sz="1400"/>
              <a:t>Wspólne ustawienia: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pl-PL" sz="1400"/>
              <a:t>rozmiar wejścia </a:t>
            </a:r>
            <a:r>
              <a:rPr lang="pl-PL" sz="1400">
                <a:solidFill>
                  <a:srgbClr val="868362"/>
                </a:solidFill>
              </a:rPr>
              <a:t>224 × 224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pl-PL" sz="1400"/>
              <a:t>batch size: </a:t>
            </a:r>
            <a:r>
              <a:rPr lang="pl-PL" sz="1400">
                <a:solidFill>
                  <a:srgbClr val="868362"/>
                </a:solidFill>
              </a:rPr>
              <a:t>64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pl-PL" sz="1400"/>
              <a:t>weight decay: </a:t>
            </a:r>
            <a:r>
              <a:rPr lang="pl-PL" sz="1400">
                <a:solidFill>
                  <a:srgbClr val="868362"/>
                </a:solidFill>
              </a:rPr>
              <a:t>0.0001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pl-PL" sz="1400"/>
              <a:t>num_workers: </a:t>
            </a:r>
            <a:r>
              <a:rPr lang="pl-PL" sz="1400">
                <a:solidFill>
                  <a:srgbClr val="868362"/>
                </a:solidFill>
              </a:rPr>
              <a:t>8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pl-PL" sz="1400"/>
              <a:t>seed: </a:t>
            </a:r>
            <a:r>
              <a:rPr lang="pl-PL" sz="1400">
                <a:solidFill>
                  <a:srgbClr val="868362"/>
                </a:solidFill>
              </a:rPr>
              <a:t>42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pl-PL" sz="1400"/>
              <a:t>AMP / mixed precision: </a:t>
            </a:r>
            <a:r>
              <a:rPr lang="pl-PL" sz="1400">
                <a:solidFill>
                  <a:srgbClr val="868362"/>
                </a:solidFill>
              </a:rPr>
              <a:t>true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pl-PL" sz="1400"/>
              <a:t>early stopping: </a:t>
            </a:r>
            <a:r>
              <a:rPr lang="pl-PL" sz="1400">
                <a:solidFill>
                  <a:srgbClr val="868362"/>
                </a:solidFill>
              </a:rPr>
              <a:t>val_acc, patience=3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lang="pl-PL" sz="1400"/>
              <a:t>Tensor Board logging: </a:t>
            </a:r>
            <a:r>
              <a:rPr lang="pl-PL" sz="1400">
                <a:solidFill>
                  <a:srgbClr val="868362"/>
                </a:solidFill>
              </a:rPr>
              <a:t>tak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pl-PL" sz="1400"/>
              <a:t>loss function: </a:t>
            </a:r>
            <a:r>
              <a:rPr lang="pl-PL" sz="1400">
                <a:solidFill>
                  <a:srgbClr val="868362"/>
                </a:solidFill>
              </a:rPr>
              <a:t>CrossEntropyLoss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</a:pPr>
            <a:r>
              <a:rPr lang="pl-PL" sz="1400"/>
              <a:t>optimizer: </a:t>
            </a:r>
            <a:r>
              <a:rPr lang="pl-PL" sz="1400">
                <a:solidFill>
                  <a:srgbClr val="868362"/>
                </a:solidFill>
              </a:rPr>
              <a:t>AdamW</a:t>
            </a:r>
            <a:endParaRPr sz="1400">
              <a:solidFill>
                <a:srgbClr val="86836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261" name="Google Shape;261;p16"/>
          <p:cNvSpPr txBox="1"/>
          <p:nvPr/>
        </p:nvSpPr>
        <p:spPr>
          <a:xfrm>
            <a:off x="6039450" y="1942775"/>
            <a:ext cx="43188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CNN: </a:t>
            </a:r>
            <a:r>
              <a:rPr b="0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model konwolucyjny zbudowany w PyTorch</a:t>
            </a:r>
            <a:endParaRPr b="0" i="0" sz="1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b="0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epochs: </a:t>
            </a:r>
            <a:r>
              <a:rPr b="0" i="0" lang="pl-PL" sz="1400" u="none" cap="none" strike="noStrike">
                <a:solidFill>
                  <a:srgbClr val="86836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30</a:t>
            </a:r>
            <a:endParaRPr b="0" i="0" sz="1400" u="none" cap="none" strike="noStrike">
              <a:solidFill>
                <a:srgbClr val="86836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b="0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learning rate: </a:t>
            </a:r>
            <a:r>
              <a:rPr b="0" i="0" lang="pl-PL" sz="1400" u="none" cap="none" strike="noStrike">
                <a:solidFill>
                  <a:srgbClr val="86836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0.001</a:t>
            </a:r>
            <a:endParaRPr b="0" i="0" sz="1400" u="none" cap="none" strike="noStrike">
              <a:solidFill>
                <a:srgbClr val="86836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b="0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pretrained: </a:t>
            </a:r>
            <a:r>
              <a:rPr b="0" i="0" lang="pl-PL" sz="1400" u="none" cap="none" strike="noStrike">
                <a:solidFill>
                  <a:srgbClr val="86836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nie</a:t>
            </a:r>
            <a:endParaRPr b="0" i="0" sz="1400" u="none" cap="none" strike="noStrike">
              <a:solidFill>
                <a:srgbClr val="86836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ViT: </a:t>
            </a:r>
            <a:r>
              <a:rPr b="0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model z </a:t>
            </a:r>
            <a:r>
              <a:rPr b="0" i="0" lang="pl-PL" sz="1400" u="none" cap="none" strike="noStrike">
                <a:solidFill>
                  <a:srgbClr val="86836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torchvision</a:t>
            </a:r>
            <a:r>
              <a:rPr b="0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następnie fine-tuning</a:t>
            </a:r>
            <a:endParaRPr b="0" i="0" sz="1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b="0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epochs: </a:t>
            </a:r>
            <a:r>
              <a:rPr b="0" i="0" lang="pl-PL" sz="1400" u="none" cap="none" strike="noStrike">
                <a:solidFill>
                  <a:srgbClr val="86836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20</a:t>
            </a:r>
            <a:endParaRPr b="0" i="0" sz="1400" u="none" cap="none" strike="noStrike">
              <a:solidFill>
                <a:srgbClr val="86836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b="0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learning rate: </a:t>
            </a:r>
            <a:r>
              <a:rPr b="0" i="0" lang="pl-PL" sz="1400" u="none" cap="none" strike="noStrike">
                <a:solidFill>
                  <a:srgbClr val="86836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0.0001</a:t>
            </a:r>
            <a:endParaRPr b="0" i="0" sz="1400" u="none" cap="none" strike="noStrike">
              <a:solidFill>
                <a:srgbClr val="86836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Char char="●"/>
            </a:pPr>
            <a:r>
              <a:rPr b="0" i="0" lang="pl-PL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pretrained: </a:t>
            </a:r>
            <a:r>
              <a:rPr b="0" i="0" lang="pl-PL" sz="1400" u="none" cap="none" strike="noStrike">
                <a:solidFill>
                  <a:srgbClr val="86836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tak</a:t>
            </a:r>
            <a:endParaRPr b="0" i="0" sz="1400" u="none" cap="none" strike="noStrike">
              <a:solidFill>
                <a:srgbClr val="86836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sz="3200"/>
              <a:t>Przebieg treningu modeli (TensorBoard) - Loss</a:t>
            </a:r>
            <a:endParaRPr/>
          </a:p>
        </p:txBody>
      </p:sp>
      <p:pic>
        <p:nvPicPr>
          <p:cNvPr id="267" name="Google Shape;267;p18" title="los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267950"/>
            <a:ext cx="6680202" cy="34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8"/>
          <p:cNvSpPr txBox="1"/>
          <p:nvPr/>
        </p:nvSpPr>
        <p:spPr>
          <a:xfrm>
            <a:off x="7892400" y="2338925"/>
            <a:ext cx="32328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ViT szybciej obniżał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train loss</a:t>
            </a: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niż CNN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ViT utrzymywał niższy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val loss</a:t>
            </a:r>
            <a:endParaRPr b="0" i="0" sz="1100" u="none" cap="none" strike="noStrike">
              <a:solidFill>
                <a:srgbClr val="86836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CNN uczył się wolniej i kończył z wyższym błędem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Przebieg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loss</a:t>
            </a:r>
            <a:r>
              <a:rPr b="0" i="0" lang="pl-PL" sz="1100" u="none" cap="none" strike="noStrike">
                <a:solidFill>
                  <a:srgbClr val="86836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potwierdza przewagę ViT nad baseline CNN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 sz="3200"/>
              <a:t>Przebieg treningu modeli (TensorBoard) - Accuracy</a:t>
            </a:r>
            <a:endParaRPr sz="3200"/>
          </a:p>
        </p:txBody>
      </p:sp>
      <p:pic>
        <p:nvPicPr>
          <p:cNvPr id="274" name="Google Shape;274;p17" title="ac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270758"/>
            <a:ext cx="6631875" cy="339131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7"/>
          <p:cNvSpPr txBox="1"/>
          <p:nvPr/>
        </p:nvSpPr>
        <p:spPr>
          <a:xfrm>
            <a:off x="7698675" y="2344625"/>
            <a:ext cx="36447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ViT osiągał wyższą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train accuracy</a:t>
            </a: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val accuracy</a:t>
            </a: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niż CNN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ViT uczył się szybciej i wcześniej dochodził do wysokiej skuteczności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Wyższa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val accuracy</a:t>
            </a:r>
            <a:r>
              <a:rPr b="0" i="0" lang="pl-PL" sz="1100" u="none" cap="none" strike="noStrike">
                <a:solidFill>
                  <a:srgbClr val="86836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wskazuje na lepszą generalizację modelu ViT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Trening CNN został zatrzymany na 17 epoce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Trening ViT został zatrzymany na 12 epoce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/>
              <a:t>Wyniki</a:t>
            </a:r>
            <a:endParaRPr/>
          </a:p>
        </p:txBody>
      </p:sp>
      <p:graphicFrame>
        <p:nvGraphicFramePr>
          <p:cNvPr id="281" name="Google Shape;281;p19"/>
          <p:cNvGraphicFramePr/>
          <p:nvPr/>
        </p:nvGraphicFramePr>
        <p:xfrm>
          <a:off x="1066800" y="174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{3CA5FE66-BA1A-4DD0-BCAB-B60FE328F773}</a:tableStyleId>
              </a:tblPr>
              <a:tblGrid>
                <a:gridCol w="3026575"/>
                <a:gridCol w="1313425"/>
                <a:gridCol w="1855925"/>
                <a:gridCol w="1313425"/>
                <a:gridCol w="1313425"/>
              </a:tblGrid>
              <a:tr h="33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Klasa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Model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Precision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Recall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F1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33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email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CNN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0.7982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0.8700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0.8325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33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email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ViT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0.9894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0.9300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0.9588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33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invoice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CNN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0.4880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0.6100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0.5422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33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invoice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ViT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0.7586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0.6600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0.7059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33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scientific_report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CNN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0.2738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0.2300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0.2500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33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scientific_report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ViT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0.6238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0.6300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0.6269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33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memo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CNN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0.3894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0.4400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0.4131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335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memo</a:t>
                      </a:r>
                      <a:endParaRPr b="1"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ViT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0.8137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0.8300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l-PL" sz="11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0.8218</a:t>
                      </a:r>
                      <a:endParaRPr sz="11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2" name="Google Shape;282;p19"/>
          <p:cNvSpPr txBox="1"/>
          <p:nvPr/>
        </p:nvSpPr>
        <p:spPr>
          <a:xfrm>
            <a:off x="1066800" y="5310550"/>
            <a:ext cx="9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l-P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ViT był lepszy od CNN nie tylko ogólnie, ale też dla konkretnych klas dokumentów, szczególnie tych trudniejszych do rozróżnienia.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Wyniki</a:t>
            </a:r>
            <a:endParaRPr/>
          </a:p>
        </p:txBody>
      </p:sp>
      <p:graphicFrame>
        <p:nvGraphicFramePr>
          <p:cNvPr id="288" name="Google Shape;288;p20"/>
          <p:cNvGraphicFramePr/>
          <p:nvPr/>
        </p:nvGraphicFramePr>
        <p:xfrm>
          <a:off x="1148288" y="201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{3CA5FE66-BA1A-4DD0-BCAB-B60FE328F773}</a:tableStyleId>
              </a:tblPr>
              <a:tblGrid>
                <a:gridCol w="1511100"/>
                <a:gridCol w="3120700"/>
                <a:gridCol w="2266650"/>
                <a:gridCol w="2430875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l-PL" sz="14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Model</a:t>
                      </a:r>
                      <a:endParaRPr b="1" sz="14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l-PL" sz="14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Test accuracy</a:t>
                      </a:r>
                      <a:endParaRPr b="1" sz="14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l-PL" sz="14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Macro F1</a:t>
                      </a:r>
                      <a:endParaRPr b="1" sz="14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l-PL" sz="14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Invoice F1</a:t>
                      </a:r>
                      <a:endParaRPr b="1" sz="14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l-PL" sz="15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CNN</a:t>
                      </a:r>
                      <a:endParaRPr b="1" sz="15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l-PL" sz="15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0.6319</a:t>
                      </a:r>
                      <a:endParaRPr sz="15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l-PL" sz="15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0.6283</a:t>
                      </a:r>
                      <a:endParaRPr sz="15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l-PL" sz="15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0.5422</a:t>
                      </a:r>
                      <a:endParaRPr sz="15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l-PL" sz="15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ViT</a:t>
                      </a:r>
                      <a:endParaRPr b="1" sz="15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l-PL" sz="15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0.7937</a:t>
                      </a:r>
                      <a:endParaRPr sz="15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l-PL" sz="15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0.7934</a:t>
                      </a:r>
                      <a:endParaRPr sz="15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l-PL" sz="1500" u="none" cap="none" strike="noStrike"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0.7059</a:t>
                      </a:r>
                      <a:endParaRPr sz="1500" u="none" cap="none" strike="noStrike">
                        <a:latin typeface="Libre Franklin"/>
                        <a:ea typeface="Libre Franklin"/>
                        <a:cs typeface="Libre Franklin"/>
                        <a:sym typeface="Libre Frankli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9" name="Google Shape;289;p20"/>
          <p:cNvSpPr txBox="1"/>
          <p:nvPr/>
        </p:nvSpPr>
        <p:spPr>
          <a:xfrm>
            <a:off x="1066813" y="4132900"/>
            <a:ext cx="949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l-PL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ViT przewyższył CNN we wszystkich głównych metrykach, dlatego został wybrany jako lepszy model do klasyfikacji dokumentów.</a:t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 sz="3700"/>
              <a:t>Wyniki jakościowe — Confusion Matrix (ViT)</a:t>
            </a:r>
            <a:endParaRPr sz="3700"/>
          </a:p>
        </p:txBody>
      </p:sp>
      <p:pic>
        <p:nvPicPr>
          <p:cNvPr id="295" name="Google Shape;295;p21" title="confusion_matri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014200"/>
            <a:ext cx="4285000" cy="42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/>
        </p:nvSpPr>
        <p:spPr>
          <a:xfrm>
            <a:off x="5548875" y="2014200"/>
            <a:ext cx="5658600" cy="17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ViT daje wyraźnie czystszą diagonalę, co oznacza większą liczbę poprawnych klasyfikacji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Najlepiej rozpoznawane są klasy o bardziej charakterystycznym układzie, np.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b="0" i="0" lang="pl-PL" sz="1100" u="none" cap="none" strike="noStrike">
                <a:solidFill>
                  <a:srgbClr val="86836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resume</a:t>
            </a:r>
            <a:r>
              <a:rPr b="0" i="0" lang="pl-PL" sz="1100" u="none" cap="none" strike="noStrike">
                <a:solidFill>
                  <a:srgbClr val="86836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handwritten</a:t>
            </a:r>
            <a:endParaRPr b="0" i="0" sz="1100" u="none" cap="none" strike="noStrike">
              <a:solidFill>
                <a:srgbClr val="86836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pl-P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Najwięcej błędów dotyczy klas podobnych layoutem, zwłaszcza dokumentów biurowych i technicznych, takich jak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form</a:t>
            </a:r>
            <a:r>
              <a:rPr b="0" i="0" lang="pl-PL" sz="1100" u="none" cap="none" strike="noStrike">
                <a:solidFill>
                  <a:srgbClr val="86836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invoice</a:t>
            </a:r>
            <a:r>
              <a:rPr b="0" i="0" lang="pl-PL" sz="1100" u="none" cap="none" strike="noStrike">
                <a:solidFill>
                  <a:srgbClr val="86836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budget</a:t>
            </a:r>
            <a:r>
              <a:rPr b="0" i="0" lang="pl-PL" sz="1100" u="none" cap="none" strike="noStrike">
                <a:solidFill>
                  <a:srgbClr val="868362"/>
                </a:solidFill>
                <a:latin typeface="Arial"/>
                <a:ea typeface="Arial"/>
                <a:cs typeface="Arial"/>
                <a:sym typeface="Arial"/>
              </a:rPr>
              <a:t> i </a:t>
            </a:r>
            <a:r>
              <a:rPr b="0" i="0" lang="pl-PL" sz="1100" u="none" cap="none" strike="noStrike">
                <a:solidFill>
                  <a:srgbClr val="868362"/>
                </a:solidFill>
                <a:latin typeface="Roboto Mono"/>
                <a:ea typeface="Roboto Mono"/>
                <a:cs typeface="Roboto Mono"/>
                <a:sym typeface="Roboto Mono"/>
              </a:rPr>
              <a:t>scientific_report</a:t>
            </a:r>
            <a:endParaRPr b="0" i="0" sz="1100" u="none" cap="none" strike="noStrike">
              <a:solidFill>
                <a:srgbClr val="86836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Wnioski</a:t>
            </a:r>
            <a:endParaRPr/>
          </a:p>
        </p:txBody>
      </p:sp>
      <p:sp>
        <p:nvSpPr>
          <p:cNvPr id="302" name="Google Shape;302;p22"/>
          <p:cNvSpPr txBox="1"/>
          <p:nvPr>
            <p:ph idx="1" type="body"/>
          </p:nvPr>
        </p:nvSpPr>
        <p:spPr>
          <a:xfrm>
            <a:off x="1066800" y="2014200"/>
            <a:ext cx="10058400" cy="3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-PL" sz="1400"/>
              <a:t>Cel projektu został osiągnięty</a:t>
            </a:r>
            <a:r>
              <a:rPr lang="pl-PL" sz="1400"/>
              <a:t> — sam obraz dokumentu okazał się wystarczający do skutecznej klasyfikacji typu dokumentu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-PL" sz="1400"/>
              <a:t>CNN</a:t>
            </a:r>
            <a:r>
              <a:rPr lang="pl-PL" sz="1400"/>
              <a:t> spełnił rolę poprawnego modelu bazowego i potwierdził sens podejścia image-only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l-PL" sz="1400"/>
              <a:t>Vision Transformer</a:t>
            </a:r>
            <a:r>
              <a:rPr lang="pl-PL" sz="1400"/>
              <a:t> osiągnął najlepsze wyniki i wyraźnie przewyższył CNN we wszystkich głównych metrykach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sz="1400"/>
              <a:t>Najlepiej rozpoznawane były klasy o bardziej charakterystycznym układzie, np. </a:t>
            </a:r>
            <a:r>
              <a:rPr lang="pl-PL" sz="1400">
                <a:solidFill>
                  <a:srgbClr val="868362"/>
                </a:solidFill>
              </a:rPr>
              <a:t>email</a:t>
            </a:r>
            <a:r>
              <a:rPr lang="pl-PL" sz="1400"/>
              <a:t>, </a:t>
            </a:r>
            <a:r>
              <a:rPr lang="pl-PL" sz="1400">
                <a:solidFill>
                  <a:srgbClr val="868362"/>
                </a:solidFill>
              </a:rPr>
              <a:t>resume</a:t>
            </a:r>
            <a:r>
              <a:rPr lang="pl-PL" sz="1400"/>
              <a:t>, </a:t>
            </a:r>
            <a:r>
              <a:rPr lang="pl-PL" sz="1400">
                <a:solidFill>
                  <a:srgbClr val="868362"/>
                </a:solidFill>
              </a:rPr>
              <a:t>handwritten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sz="1400"/>
              <a:t>Najtrudniejsze pozostały klasy podobne wizualnie, takie jak </a:t>
            </a:r>
            <a:r>
              <a:rPr lang="pl-PL" sz="1400">
                <a:solidFill>
                  <a:srgbClr val="868362"/>
                </a:solidFill>
              </a:rPr>
              <a:t>form</a:t>
            </a:r>
            <a:r>
              <a:rPr lang="pl-PL" sz="1400"/>
              <a:t>, </a:t>
            </a:r>
            <a:r>
              <a:rPr lang="pl-PL" sz="1400">
                <a:solidFill>
                  <a:srgbClr val="868362"/>
                </a:solidFill>
              </a:rPr>
              <a:t>invoice</a:t>
            </a:r>
            <a:r>
              <a:rPr lang="pl-PL" sz="1400"/>
              <a:t>, </a:t>
            </a:r>
            <a:r>
              <a:rPr lang="pl-PL" sz="1400">
                <a:solidFill>
                  <a:srgbClr val="868362"/>
                </a:solidFill>
              </a:rPr>
              <a:t>budget</a:t>
            </a:r>
            <a:r>
              <a:rPr lang="pl-PL" sz="1400"/>
              <a:t> i </a:t>
            </a:r>
            <a:r>
              <a:rPr lang="pl-PL" sz="1400">
                <a:solidFill>
                  <a:srgbClr val="868362"/>
                </a:solidFill>
              </a:rPr>
              <a:t>scientific_report</a:t>
            </a:r>
            <a:endParaRPr sz="1400">
              <a:solidFill>
                <a:srgbClr val="86836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sz="1400"/>
              <a:t>Wyniki pokazują, że </a:t>
            </a:r>
            <a:r>
              <a:rPr b="1" lang="pl-PL" sz="1400"/>
              <a:t>globalny układ dokumentu niesie dużo informacji</a:t>
            </a:r>
            <a:r>
              <a:rPr lang="pl-PL" sz="1400"/>
              <a:t>, a model ViT lepiej wykorzystuje tę informację niż prosty CNN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sz="1400"/>
              <a:t>Podejście </a:t>
            </a:r>
            <a:r>
              <a:rPr b="1" lang="pl-PL" sz="1400"/>
              <a:t>image-only</a:t>
            </a:r>
            <a:r>
              <a:rPr lang="pl-PL" sz="1400"/>
              <a:t> może być użyte jako </a:t>
            </a:r>
            <a:r>
              <a:rPr b="1" lang="pl-PL" sz="1400"/>
              <a:t>pierwszy etap większego systemu Document Intelligence</a:t>
            </a:r>
            <a:endParaRPr b="1" sz="1400"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Możliwe rozwinięcia i usprawnienia</a:t>
            </a:r>
            <a:endParaRPr/>
          </a:p>
        </p:txBody>
      </p:sp>
      <p:sp>
        <p:nvSpPr>
          <p:cNvPr id="308" name="Google Shape;308;p23"/>
          <p:cNvSpPr txBox="1"/>
          <p:nvPr>
            <p:ph idx="1" type="body"/>
          </p:nvPr>
        </p:nvSpPr>
        <p:spPr>
          <a:xfrm>
            <a:off x="1066800" y="2014200"/>
            <a:ext cx="10058400" cy="44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Arial"/>
              <a:buNone/>
            </a:pPr>
            <a:r>
              <a:rPr b="1" lang="pl-PL" sz="4800"/>
              <a:t>Dodanie OCR</a:t>
            </a:r>
            <a:r>
              <a:rPr lang="pl-PL" sz="4800"/>
              <a:t> i porównanie podejścia:</a:t>
            </a:r>
            <a:endParaRPr sz="48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image-only</a:t>
            </a:r>
            <a:endParaRPr sz="4800">
              <a:solidFill>
                <a:srgbClr val="86836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text-only</a:t>
            </a:r>
            <a:endParaRPr sz="4800">
              <a:solidFill>
                <a:srgbClr val="86836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multimodal</a:t>
            </a:r>
            <a:endParaRPr sz="4800">
              <a:solidFill>
                <a:srgbClr val="86836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Arial"/>
              <a:buNone/>
            </a:pPr>
            <a:r>
              <a:rPr b="1" lang="pl-PL" sz="4800"/>
              <a:t>Trening na większej części RVL-CDIP</a:t>
            </a:r>
            <a:r>
              <a:rPr lang="pl-PL" sz="4800"/>
              <a:t> lub na pełnym zbiorze danych</a:t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Arial"/>
              <a:buNone/>
            </a:pPr>
            <a:r>
              <a:rPr b="1" lang="pl-PL" sz="4800"/>
              <a:t>Dalszy tuning hiperparametrów</a:t>
            </a:r>
            <a:r>
              <a:rPr lang="pl-PL" sz="4800"/>
              <a:t>, np.:</a:t>
            </a:r>
            <a:endParaRPr sz="48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learning rate</a:t>
            </a:r>
            <a:endParaRPr sz="4800">
              <a:solidFill>
                <a:srgbClr val="86836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batch size</a:t>
            </a:r>
            <a:endParaRPr sz="4800">
              <a:solidFill>
                <a:srgbClr val="86836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liczba epok / ustawienia early stopping</a:t>
            </a:r>
            <a:endParaRPr sz="4800">
              <a:solidFill>
                <a:srgbClr val="86836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augmentacja danych</a:t>
            </a:r>
            <a:endParaRPr sz="4800">
              <a:solidFill>
                <a:srgbClr val="86836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Arial"/>
              <a:buNone/>
            </a:pPr>
            <a:r>
              <a:rPr b="1" lang="pl-PL" sz="4800"/>
              <a:t>Porównanie z dodatkowymi modelami</a:t>
            </a:r>
            <a:r>
              <a:rPr lang="pl-PL" sz="4800"/>
              <a:t>, np.:</a:t>
            </a:r>
            <a:endParaRPr sz="48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ResNet</a:t>
            </a:r>
            <a:endParaRPr sz="4800">
              <a:solidFill>
                <a:srgbClr val="86836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EfficientNet</a:t>
            </a:r>
            <a:endParaRPr sz="4800">
              <a:solidFill>
                <a:srgbClr val="86836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ConvNeXt </a:t>
            </a:r>
            <a:endParaRPr sz="4800">
              <a:solidFill>
                <a:srgbClr val="86836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-PL" sz="4800">
                <a:solidFill>
                  <a:srgbClr val="868362"/>
                </a:solidFill>
              </a:rPr>
              <a:t>DeiT / Swin Transformer</a:t>
            </a:r>
            <a:endParaRPr sz="4800">
              <a:solidFill>
                <a:srgbClr val="86836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None/>
            </a:pPr>
            <a:r>
              <a:t/>
            </a:r>
            <a:endParaRPr sz="4800">
              <a:solidFill>
                <a:srgbClr val="86836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None/>
            </a:pPr>
            <a:r>
              <a:rPr b="1" lang="pl-PL" sz="4800"/>
              <a:t>Obsługa i klasyfikacja dokumentów wielostronicowych</a:t>
            </a:r>
            <a:endParaRPr b="1"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None/>
            </a:pPr>
            <a:r>
              <a:t/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None/>
            </a:pPr>
            <a:r>
              <a:rPr b="1" lang="pl-PL" sz="4800"/>
              <a:t>Zastosowanie praktyczne</a:t>
            </a:r>
            <a:r>
              <a:rPr lang="pl-PL" sz="4800"/>
              <a:t> w systemach automatycznego obiegu dokumentów, sortowania i kierowania do OCR</a:t>
            </a:r>
            <a:endParaRPr b="1" sz="4800"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vonVTI">
  <a:themeElements>
    <a:clrScheme name="Custom 8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